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E0087-5472-86B9-966F-1D922585F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A84B05-1EFE-A2FE-2D7A-2CB2310C3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50E17E-33F1-3C6D-5B01-6B61D071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5DCF8B-38EC-3A33-7774-9C002DCD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54EF93-0D07-55E4-3F5D-52081CC4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38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64EDF-0DA1-B798-D082-C4DAB2F9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00E6AB-7E88-37C4-883A-9FC8F147C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EE1563-5A3E-36E1-E9A1-A30BB5BC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BD4E32-C025-6F18-2535-D4BD0531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5D7916-B6E6-C2E6-584E-547EF21C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32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974CD-E766-C7F9-B0AE-64B364B1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A27B46-6868-1B8C-BA39-1EBA687F1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D2AD7D-53AC-4CB7-15E9-11473E24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DA2BD0-C0CA-B7C0-4A85-697C4F76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EA3C68-D068-BD42-3A6A-500E01D8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21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B69F0-5DFB-3631-4C04-709343F2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24D6AA-E515-5DD6-D2D5-FB43B6E02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4BEB2D-04A7-0CEC-9272-19D03C859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BDB575-47E4-44F5-95D9-AF2B820B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16DB2F-DC05-ABBF-1AE9-DD5E3BB7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F80C21-2E6A-22EE-0620-87F8B590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928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C8312-0FD7-C839-A24E-D64DFE19E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533928-649D-EFE7-1346-955716434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B0F2F5-4A2E-366D-6073-77DFBB4A9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A5CF4C-7E74-2225-DA49-69ACF8D1C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DDE625-4FD8-2E95-8812-5541E77E6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426156-4ECF-E6E7-B176-406DEA4B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211463-4EE9-ED92-D2AE-22C8D372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A778B88-77AE-0E45-34D1-D2C7CFFF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275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59401-ED71-B4F1-4EAC-2A719EC4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E97701-8A6F-B71A-2161-CB8B9FDF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C08DD8-337E-14F2-8E9D-7B7832C6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13AC25-8221-E51B-1474-C9B3DFB8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302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23C3D65-8B15-65FF-6340-6154253B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F4894D-3994-7791-48EA-EB755874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011C41-77A1-3BB6-A694-B252FEF8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44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720E3-F0E2-0E47-7C6C-A5BF3B778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488166-52AF-9A08-FA81-E52BCA4EB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E28CE7-90E6-CF36-5ACF-9D3F028F0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CA2D02-FDFB-0A98-764F-3FE68F84A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E3D739-8FD0-173A-80C4-18C70CAB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F6FD0E-3F4B-861F-974D-82364EE5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30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B8B3C-D7CF-B49B-B03B-231E97498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DEB74B3-B827-B817-9EDD-B1FBAB731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604288-AF58-969B-BA22-F2DDF2852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7E1566-F6BA-17D8-1540-0AACF06B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442E77-EBD7-6327-FAE8-2845EA538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943807-8247-E185-C28D-737B861D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69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87ABE-CCA7-8443-B16D-F4665085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3F098-64E9-E2D2-09FB-C9462CE60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9D792F-BD41-987E-F77C-E2DBC032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654D8D-C774-7CC2-809F-A4C00C86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6E0B94-1908-2439-2E4C-CDC477B0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26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3CCDB2-99C9-A5A3-ABF5-759CE7E6C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EB6487-3D40-53CC-DB52-9BDCE8C75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F4A6F7-6E6E-43DC-5D3E-EE0B37EE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C903B-D889-03C7-E394-68BABD31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49BE9-69F7-158C-F51D-810D1588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74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4BCA714-6ACF-F435-C139-C3C7CC2B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9B88D4-5A1A-3FDA-FF44-00490BE41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C1E63C-5899-4BD0-4B56-B886C4C96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081E6-9C63-4B96-8E67-BD76AC035758}" type="datetimeFigureOut">
              <a:rPr lang="pt-BR" smtClean="0"/>
              <a:t>19/07/2026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D61B5D-346D-273A-EBF7-086BD9442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7FBFD7-E012-AAA2-D98A-830539EFB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188AF-AEBA-42C0-8E91-6CF40E77F7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29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62351A-D5CA-5FD0-9E6A-F67B0EA91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4800">
                <a:solidFill>
                  <a:srgbClr val="FFFFFF"/>
                </a:solidFill>
              </a:rPr>
              <a:t>DESAFIO IFOOD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68F095-7F5E-2874-FFEB-73F824959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Regressão Logística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0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BFD4C-2DEC-324F-E489-5BAC9CB2E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1. Problema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30F87C2-B5EB-40F0-586F-225A2DFC6A22}"/>
              </a:ext>
            </a:extLst>
          </p:cNvPr>
          <p:cNvSpPr/>
          <p:nvPr/>
        </p:nvSpPr>
        <p:spPr>
          <a:xfrm>
            <a:off x="283029" y="2060801"/>
            <a:ext cx="284117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Transacions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232223-9A74-565E-DE50-EAA22DF044C8}"/>
              </a:ext>
            </a:extLst>
          </p:cNvPr>
          <p:cNvSpPr/>
          <p:nvPr/>
        </p:nvSpPr>
        <p:spPr>
          <a:xfrm>
            <a:off x="3254829" y="2060801"/>
            <a:ext cx="284117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Profile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DB23D7E-38A3-BCDC-E012-12CE6999782A}"/>
              </a:ext>
            </a:extLst>
          </p:cNvPr>
          <p:cNvSpPr/>
          <p:nvPr/>
        </p:nvSpPr>
        <p:spPr>
          <a:xfrm>
            <a:off x="6215744" y="2060801"/>
            <a:ext cx="284117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Offers</a:t>
            </a:r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E153C50-9F14-4298-68C6-C32EBAEB9C74}"/>
              </a:ext>
            </a:extLst>
          </p:cNvPr>
          <p:cNvSpPr/>
          <p:nvPr/>
        </p:nvSpPr>
        <p:spPr>
          <a:xfrm>
            <a:off x="6215744" y="3171142"/>
            <a:ext cx="2841171" cy="2351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8EF3FFE-7492-96E2-CC38-7FC36A7792C8}"/>
              </a:ext>
            </a:extLst>
          </p:cNvPr>
          <p:cNvSpPr/>
          <p:nvPr/>
        </p:nvSpPr>
        <p:spPr>
          <a:xfrm>
            <a:off x="3243948" y="3171142"/>
            <a:ext cx="2841171" cy="2351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D9CE1A9-DB41-AA8A-26FA-68A851A681F6}"/>
              </a:ext>
            </a:extLst>
          </p:cNvPr>
          <p:cNvSpPr/>
          <p:nvPr/>
        </p:nvSpPr>
        <p:spPr>
          <a:xfrm>
            <a:off x="272145" y="3171142"/>
            <a:ext cx="2841171" cy="23513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305FF8E-0160-6F66-DE21-8F66EE706DFA}"/>
              </a:ext>
            </a:extLst>
          </p:cNvPr>
          <p:cNvSpPr txBox="1"/>
          <p:nvPr/>
        </p:nvSpPr>
        <p:spPr>
          <a:xfrm>
            <a:off x="261268" y="3418114"/>
            <a:ext cx="2841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Transações históricas de clientes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D67CD93-59DC-126A-FA4F-4ABD4FD1F530}"/>
              </a:ext>
            </a:extLst>
          </p:cNvPr>
          <p:cNvSpPr txBox="1"/>
          <p:nvPr/>
        </p:nvSpPr>
        <p:spPr>
          <a:xfrm>
            <a:off x="3233070" y="3356200"/>
            <a:ext cx="2841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Perfil de Clientes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C304472-E819-7B7B-5B22-31CB5C5F029E}"/>
              </a:ext>
            </a:extLst>
          </p:cNvPr>
          <p:cNvSpPr txBox="1"/>
          <p:nvPr/>
        </p:nvSpPr>
        <p:spPr>
          <a:xfrm>
            <a:off x="6215745" y="3356200"/>
            <a:ext cx="2841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Tipos de Ofertas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B80FC85-2721-7AD2-6B03-945E25187058}"/>
              </a:ext>
            </a:extLst>
          </p:cNvPr>
          <p:cNvSpPr txBox="1"/>
          <p:nvPr/>
        </p:nvSpPr>
        <p:spPr>
          <a:xfrm>
            <a:off x="3124200" y="1374218"/>
            <a:ext cx="354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Dados de Entrada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6E9B5A8-C130-942E-08B8-FAED22B3B23A}"/>
              </a:ext>
            </a:extLst>
          </p:cNvPr>
          <p:cNvSpPr/>
          <p:nvPr/>
        </p:nvSpPr>
        <p:spPr>
          <a:xfrm>
            <a:off x="10254343" y="2060800"/>
            <a:ext cx="1665512" cy="3461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Modelo de ML para prever propensão de compras em função de ofertas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65FFFC3-396C-5631-0472-3E8F12530E44}"/>
              </a:ext>
            </a:extLst>
          </p:cNvPr>
          <p:cNvSpPr txBox="1"/>
          <p:nvPr/>
        </p:nvSpPr>
        <p:spPr>
          <a:xfrm>
            <a:off x="10363202" y="1506022"/>
            <a:ext cx="155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Necessidade</a:t>
            </a:r>
          </a:p>
        </p:txBody>
      </p:sp>
    </p:spTree>
    <p:extLst>
      <p:ext uri="{BB962C8B-B14F-4D97-AF65-F5344CB8AC3E}">
        <p14:creationId xmlns:p14="http://schemas.microsoft.com/office/powerpoint/2010/main" val="188366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F9B11-A613-E379-C024-10459985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Sugestão de Solução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523D83-99FA-51E7-4FA7-D3DEA09CFF52}"/>
              </a:ext>
            </a:extLst>
          </p:cNvPr>
          <p:cNvSpPr txBox="1"/>
          <p:nvPr/>
        </p:nvSpPr>
        <p:spPr>
          <a:xfrm>
            <a:off x="838200" y="1502229"/>
            <a:ext cx="108639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Modelar os dados de entrada disponíveis para o problema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Criar um modelo baseline de machine learning, usando regressão logística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Avaliar Propensão de Compra , dado as ofertas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Modelo Selecionado</a:t>
            </a:r>
          </a:p>
          <a:p>
            <a:pPr lvl="3"/>
            <a:r>
              <a:rPr lang="pt-BR" dirty="0" err="1"/>
              <a:t>offer_start</a:t>
            </a:r>
            <a:r>
              <a:rPr lang="pt-BR" dirty="0"/>
              <a:t>: início da oferta</a:t>
            </a:r>
          </a:p>
          <a:p>
            <a:pPr lvl="3"/>
            <a:r>
              <a:rPr lang="pt-BR" dirty="0" err="1"/>
              <a:t>offer_end</a:t>
            </a:r>
            <a:r>
              <a:rPr lang="pt-BR" dirty="0"/>
              <a:t>: fim da oferta</a:t>
            </a:r>
          </a:p>
          <a:p>
            <a:pPr lvl="3"/>
            <a:r>
              <a:rPr lang="pt-BR" dirty="0" err="1"/>
              <a:t>duration</a:t>
            </a:r>
            <a:r>
              <a:rPr lang="pt-BR" dirty="0"/>
              <a:t>: duração da oferta</a:t>
            </a:r>
          </a:p>
          <a:p>
            <a:pPr lvl="3"/>
            <a:r>
              <a:rPr lang="pt-BR" dirty="0" err="1"/>
              <a:t>discount_value</a:t>
            </a:r>
            <a:r>
              <a:rPr lang="pt-BR" dirty="0"/>
              <a:t>: valor do desconto</a:t>
            </a:r>
          </a:p>
          <a:p>
            <a:pPr lvl="3"/>
            <a:r>
              <a:rPr lang="pt-BR" dirty="0" err="1"/>
              <a:t>min_value:valor</a:t>
            </a:r>
            <a:r>
              <a:rPr lang="pt-BR" dirty="0"/>
              <a:t> mínimo de compra para efetividade da oferta</a:t>
            </a:r>
          </a:p>
          <a:p>
            <a:pPr lvl="3"/>
            <a:r>
              <a:rPr lang="pt-BR" dirty="0" err="1"/>
              <a:t>age:idade</a:t>
            </a:r>
            <a:r>
              <a:rPr lang="pt-BR" dirty="0"/>
              <a:t> do cliente</a:t>
            </a:r>
          </a:p>
          <a:p>
            <a:pPr lvl="3"/>
            <a:r>
              <a:rPr lang="pt-BR" dirty="0" err="1"/>
              <a:t>credit_card_limit</a:t>
            </a:r>
            <a:r>
              <a:rPr lang="pt-BR" dirty="0"/>
              <a:t>: limite do cartão</a:t>
            </a:r>
          </a:p>
          <a:p>
            <a:pPr lvl="3"/>
            <a:r>
              <a:rPr lang="pt-BR" dirty="0" err="1"/>
              <a:t>registered_on</a:t>
            </a:r>
            <a:r>
              <a:rPr lang="pt-BR" dirty="0"/>
              <a:t>: data de registro do usuário</a:t>
            </a:r>
          </a:p>
          <a:p>
            <a:pPr lvl="3"/>
            <a:r>
              <a:rPr lang="pt-BR" dirty="0" err="1"/>
              <a:t>gender</a:t>
            </a:r>
            <a:r>
              <a:rPr lang="pt-BR" dirty="0"/>
              <a:t>: gênero</a:t>
            </a:r>
          </a:p>
          <a:p>
            <a:pPr lvl="3"/>
            <a:r>
              <a:rPr lang="pt-BR" dirty="0" err="1"/>
              <a:t>offer_type</a:t>
            </a:r>
            <a:r>
              <a:rPr lang="pt-BR" dirty="0"/>
              <a:t>_: tipo de oferta</a:t>
            </a:r>
          </a:p>
          <a:p>
            <a:pPr lvl="3"/>
            <a:r>
              <a:rPr lang="pt-BR" dirty="0"/>
              <a:t>Target: esse cliente irá comprar ( sim, não ) -&gt; o modelo também fornece probabilidades de propensão à compra.</a:t>
            </a:r>
          </a:p>
        </p:txBody>
      </p:sp>
    </p:spTree>
    <p:extLst>
      <p:ext uri="{BB962C8B-B14F-4D97-AF65-F5344CB8AC3E}">
        <p14:creationId xmlns:p14="http://schemas.microsoft.com/office/powerpoint/2010/main" val="840149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CB9AF-F110-298D-6BF5-EF139BE1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CBAC4B-2410-75AD-A1EA-7DE30B377931}"/>
              </a:ext>
            </a:extLst>
          </p:cNvPr>
          <p:cNvSpPr txBox="1"/>
          <p:nvPr/>
        </p:nvSpPr>
        <p:spPr>
          <a:xfrm>
            <a:off x="914400" y="1690688"/>
            <a:ext cx="7813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Modelo de Regressão Logística(baseline: sem ajuste de </a:t>
            </a:r>
            <a:r>
              <a:rPr lang="pt-BR" dirty="0" err="1"/>
              <a:t>hiper-parâmetros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096CC4-3307-E7D1-A5FA-904A17C85B18}"/>
              </a:ext>
            </a:extLst>
          </p:cNvPr>
          <p:cNvSpPr txBox="1"/>
          <p:nvPr/>
        </p:nvSpPr>
        <p:spPr>
          <a:xfrm>
            <a:off x="1055914" y="2861505"/>
            <a:ext cx="5203372" cy="32127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Resultados</a:t>
            </a:r>
          </a:p>
          <a:p>
            <a:r>
              <a:rPr lang="en-US" dirty="0"/>
              <a:t> </a:t>
            </a:r>
            <a:r>
              <a:rPr lang="en-US" b="1" dirty="0"/>
              <a:t>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0             0.77      0.00      0.01      2692</a:t>
            </a:r>
          </a:p>
          <a:p>
            <a:r>
              <a:rPr lang="en-US" dirty="0"/>
              <a:t>           1           0.80      1.00      0.89     10425</a:t>
            </a:r>
          </a:p>
          <a:p>
            <a:endParaRPr lang="en-US" dirty="0"/>
          </a:p>
          <a:p>
            <a:r>
              <a:rPr lang="en-US" dirty="0"/>
              <a:t>    accuracy                           </a:t>
            </a:r>
            <a:r>
              <a:rPr lang="en-US" b="1" dirty="0">
                <a:highlight>
                  <a:srgbClr val="FFFF00"/>
                </a:highlight>
              </a:rPr>
              <a:t>0.80</a:t>
            </a:r>
            <a:r>
              <a:rPr lang="en-US" dirty="0"/>
              <a:t>     13117</a:t>
            </a:r>
          </a:p>
          <a:p>
            <a:r>
              <a:rPr lang="en-US" dirty="0"/>
              <a:t>   macro avg       0.78      0.50      0.45     13117</a:t>
            </a:r>
          </a:p>
          <a:p>
            <a:r>
              <a:rPr lang="en-US" dirty="0"/>
              <a:t>weighted avg       0.79      0.80      0.71     13117</a:t>
            </a:r>
          </a:p>
          <a:p>
            <a:endParaRPr lang="en-US" dirty="0"/>
          </a:p>
          <a:p>
            <a:r>
              <a:rPr lang="en-US" dirty="0"/>
              <a:t>ROC AUC: 0.6361069123898504</a:t>
            </a:r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DA7567-1DB8-2A85-4DA3-B0B356465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564" y="2264229"/>
            <a:ext cx="49911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37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F68E1-FA86-416B-281C-ECCB772B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42A0CF-8725-643A-DA0B-81EE04C70389}"/>
              </a:ext>
            </a:extLst>
          </p:cNvPr>
          <p:cNvSpPr txBox="1"/>
          <p:nvPr/>
        </p:nvSpPr>
        <p:spPr>
          <a:xfrm>
            <a:off x="1088571" y="2209800"/>
            <a:ext cx="99256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Uso de outros modelos de classificação como </a:t>
            </a:r>
            <a:r>
              <a:rPr lang="pt-BR" dirty="0" err="1"/>
              <a:t>XGBoost</a:t>
            </a:r>
            <a:r>
              <a:rPr lang="pt-BR" dirty="0"/>
              <a:t>, </a:t>
            </a:r>
            <a:r>
              <a:rPr lang="pt-BR" dirty="0" err="1"/>
              <a:t>LightGBM</a:t>
            </a:r>
            <a:r>
              <a:rPr lang="pt-BR" dirty="0"/>
              <a:t>, ou 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Outras formas de modelagem, usando conhecimento do negócio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Hiper parametrização do modelo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Fundação de dados moderna, com pipeline para já apresentar dados limpos e prontos para uso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Medição de </a:t>
            </a:r>
            <a:r>
              <a:rPr lang="pt-BR" dirty="0" err="1"/>
              <a:t>Drifting</a:t>
            </a:r>
            <a:r>
              <a:rPr lang="pt-BR" dirty="0"/>
              <a:t>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Uso de dashboards analíticos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81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EEB00-44EE-BE37-83E5-367E9FB6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4695BD-7E73-DC64-BF15-9E2F468C5104}"/>
              </a:ext>
            </a:extLst>
          </p:cNvPr>
          <p:cNvSpPr/>
          <p:nvPr/>
        </p:nvSpPr>
        <p:spPr>
          <a:xfrm>
            <a:off x="914399" y="1785258"/>
            <a:ext cx="10515599" cy="43978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0F97F3-DEEB-FD2C-43C0-6D201794DA27}"/>
              </a:ext>
            </a:extLst>
          </p:cNvPr>
          <p:cNvSpPr txBox="1"/>
          <p:nvPr/>
        </p:nvSpPr>
        <p:spPr>
          <a:xfrm>
            <a:off x="1110343" y="2166257"/>
            <a:ext cx="99168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Uso de modelos Clássicos de Machine Learning para aplicações em problemas de negócios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Uso de IA para alavancar o desenvolvimento de produtos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Aperfeiçoamento das bases de dados para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uso de soluções clássicas de ML tem um custo benefício interessante para o negócio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O modelo pode gerar mais consumo pois identifica os potenciais clientes, ajudando a direcionar ofertas mais efetivas.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Ajuda a priorizar clientes com maior chances de conversão, após receber uma oferta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5778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347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DESAFIO IFOOD</vt:lpstr>
      <vt:lpstr>1. Problema </vt:lpstr>
      <vt:lpstr>2. Sugestão de Solução</vt:lpstr>
      <vt:lpstr>Resultados</vt:lpstr>
      <vt:lpstr>Recomendações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Ferreira Ferreira</dc:creator>
  <cp:lastModifiedBy>Marcos Ferreira Ferreira</cp:lastModifiedBy>
  <cp:revision>1</cp:revision>
  <dcterms:created xsi:type="dcterms:W3CDTF">2026-07-20T00:19:05Z</dcterms:created>
  <dcterms:modified xsi:type="dcterms:W3CDTF">2026-07-20T00:51:06Z</dcterms:modified>
</cp:coreProperties>
</file>